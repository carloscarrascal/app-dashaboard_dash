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6970F5-0789-4D32-B1BC-9F3EE02AEE40}" v="1" dt="2026-08-12T15:00:32.4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65" autoAdjust="0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35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inson Angulo Montalvan" userId="a39e2542-2571-4f6c-aba9-d1266b5849a0" providerId="ADAL" clId="{BA9DFEBB-B1AC-42A7-9C21-B4FBF12639F9}"/>
    <pc:docChg chg="undo custSel delSld modSld">
      <pc:chgData name="Edinson Angulo Montalvan" userId="a39e2542-2571-4f6c-aba9-d1266b5849a0" providerId="ADAL" clId="{BA9DFEBB-B1AC-42A7-9C21-B4FBF12639F9}" dt="2026-08-12T16:55:51.273" v="60" actId="403"/>
      <pc:docMkLst>
        <pc:docMk/>
      </pc:docMkLst>
      <pc:sldChg chg="del">
        <pc:chgData name="Edinson Angulo Montalvan" userId="a39e2542-2571-4f6c-aba9-d1266b5849a0" providerId="ADAL" clId="{BA9DFEBB-B1AC-42A7-9C21-B4FBF12639F9}" dt="2026-08-12T04:45:36.874" v="1" actId="47"/>
        <pc:sldMkLst>
          <pc:docMk/>
          <pc:sldMk cId="0" sldId="260"/>
        </pc:sldMkLst>
      </pc:sldChg>
      <pc:sldChg chg="delSp modSp mod">
        <pc:chgData name="Edinson Angulo Montalvan" userId="a39e2542-2571-4f6c-aba9-d1266b5849a0" providerId="ADAL" clId="{BA9DFEBB-B1AC-42A7-9C21-B4FBF12639F9}" dt="2026-08-12T16:55:51.273" v="60" actId="403"/>
        <pc:sldMkLst>
          <pc:docMk/>
          <pc:sldMk cId="0" sldId="262"/>
        </pc:sldMkLst>
        <pc:spChg chg="mod">
          <ac:chgData name="Edinson Angulo Montalvan" userId="a39e2542-2571-4f6c-aba9-d1266b5849a0" providerId="ADAL" clId="{BA9DFEBB-B1AC-42A7-9C21-B4FBF12639F9}" dt="2026-08-12T16:55:51.273" v="60" actId="403"/>
          <ac:spMkLst>
            <pc:docMk/>
            <pc:sldMk cId="0" sldId="262"/>
            <ac:spMk id="9" creationId="{00000000-0000-0000-0000-000000000000}"/>
          </ac:spMkLst>
        </pc:spChg>
        <pc:spChg chg="mod">
          <ac:chgData name="Edinson Angulo Montalvan" userId="a39e2542-2571-4f6c-aba9-d1266b5849a0" providerId="ADAL" clId="{BA9DFEBB-B1AC-42A7-9C21-B4FBF12639F9}" dt="2026-08-12T16:55:35.721" v="56" actId="403"/>
          <ac:spMkLst>
            <pc:docMk/>
            <pc:sldMk cId="0" sldId="262"/>
            <ac:spMk id="10" creationId="{00000000-0000-0000-0000-000000000000}"/>
          </ac:spMkLst>
        </pc:spChg>
        <pc:spChg chg="mod">
          <ac:chgData name="Edinson Angulo Montalvan" userId="a39e2542-2571-4f6c-aba9-d1266b5849a0" providerId="ADAL" clId="{BA9DFEBB-B1AC-42A7-9C21-B4FBF12639F9}" dt="2026-08-12T16:55:45.334" v="58" actId="403"/>
          <ac:spMkLst>
            <pc:docMk/>
            <pc:sldMk cId="0" sldId="262"/>
            <ac:spMk id="12" creationId="{00000000-0000-0000-0000-000000000000}"/>
          </ac:spMkLst>
        </pc:spChg>
        <pc:spChg chg="del">
          <ac:chgData name="Edinson Angulo Montalvan" userId="a39e2542-2571-4f6c-aba9-d1266b5849a0" providerId="ADAL" clId="{BA9DFEBB-B1AC-42A7-9C21-B4FBF12639F9}" dt="2026-08-12T04:45:35.290" v="0" actId="478"/>
          <ac:spMkLst>
            <pc:docMk/>
            <pc:sldMk cId="0" sldId="262"/>
            <ac:spMk id="13" creationId="{00000000-0000-0000-0000-000000000000}"/>
          </ac:spMkLst>
        </pc:spChg>
      </pc:sldChg>
      <pc:sldChg chg="modSp mod">
        <pc:chgData name="Edinson Angulo Montalvan" userId="a39e2542-2571-4f6c-aba9-d1266b5849a0" providerId="ADAL" clId="{BA9DFEBB-B1AC-42A7-9C21-B4FBF12639F9}" dt="2026-08-12T14:51:50.748" v="4" actId="1076"/>
        <pc:sldMkLst>
          <pc:docMk/>
          <pc:sldMk cId="0" sldId="265"/>
        </pc:sldMkLst>
        <pc:spChg chg="mod">
          <ac:chgData name="Edinson Angulo Montalvan" userId="a39e2542-2571-4f6c-aba9-d1266b5849a0" providerId="ADAL" clId="{BA9DFEBB-B1AC-42A7-9C21-B4FBF12639F9}" dt="2026-08-12T14:51:50.748" v="4" actId="1076"/>
          <ac:spMkLst>
            <pc:docMk/>
            <pc:sldMk cId="0" sldId="265"/>
            <ac:spMk id="12" creationId="{00000000-0000-0000-0000-000000000000}"/>
          </ac:spMkLst>
        </pc:spChg>
      </pc:sldChg>
      <pc:sldChg chg="del">
        <pc:chgData name="Edinson Angulo Montalvan" userId="a39e2542-2571-4f6c-aba9-d1266b5849a0" providerId="ADAL" clId="{BA9DFEBB-B1AC-42A7-9C21-B4FBF12639F9}" dt="2026-08-12T04:55:01.339" v="2" actId="47"/>
        <pc:sldMkLst>
          <pc:docMk/>
          <pc:sldMk cId="0" sldId="268"/>
        </pc:sldMkLst>
      </pc:sldChg>
      <pc:sldChg chg="modSp mod">
        <pc:chgData name="Edinson Angulo Montalvan" userId="a39e2542-2571-4f6c-aba9-d1266b5849a0" providerId="ADAL" clId="{BA9DFEBB-B1AC-42A7-9C21-B4FBF12639F9}" dt="2026-08-12T14:54:51.596" v="15" actId="20577"/>
        <pc:sldMkLst>
          <pc:docMk/>
          <pc:sldMk cId="0" sldId="269"/>
        </pc:sldMkLst>
        <pc:spChg chg="mod">
          <ac:chgData name="Edinson Angulo Montalvan" userId="a39e2542-2571-4f6c-aba9-d1266b5849a0" providerId="ADAL" clId="{BA9DFEBB-B1AC-42A7-9C21-B4FBF12639F9}" dt="2026-08-12T14:54:51.596" v="15" actId="20577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Edinson Angulo Montalvan" userId="a39e2542-2571-4f6c-aba9-d1266b5849a0" providerId="ADAL" clId="{BA9DFEBB-B1AC-42A7-9C21-B4FBF12639F9}" dt="2026-08-12T15:00:15.308" v="33" actId="20577"/>
        <pc:sldMkLst>
          <pc:docMk/>
          <pc:sldMk cId="0" sldId="272"/>
        </pc:sldMkLst>
        <pc:spChg chg="mod">
          <ac:chgData name="Edinson Angulo Montalvan" userId="a39e2542-2571-4f6c-aba9-d1266b5849a0" providerId="ADAL" clId="{BA9DFEBB-B1AC-42A7-9C21-B4FBF12639F9}" dt="2026-08-12T15:00:15.308" v="33" actId="20577"/>
          <ac:spMkLst>
            <pc:docMk/>
            <pc:sldMk cId="0" sldId="272"/>
            <ac:spMk id="23" creationId="{00000000-0000-0000-0000-000000000000}"/>
          </ac:spMkLst>
        </pc:spChg>
      </pc:sldChg>
      <pc:sldChg chg="modSp mod">
        <pc:chgData name="Edinson Angulo Montalvan" userId="a39e2542-2571-4f6c-aba9-d1266b5849a0" providerId="ADAL" clId="{BA9DFEBB-B1AC-42A7-9C21-B4FBF12639F9}" dt="2026-08-12T15:06:26.090" v="54" actId="20577"/>
        <pc:sldMkLst>
          <pc:docMk/>
          <pc:sldMk cId="0" sldId="273"/>
        </pc:sldMkLst>
        <pc:spChg chg="mod">
          <ac:chgData name="Edinson Angulo Montalvan" userId="a39e2542-2571-4f6c-aba9-d1266b5849a0" providerId="ADAL" clId="{BA9DFEBB-B1AC-42A7-9C21-B4FBF12639F9}" dt="2026-08-12T15:05:29.853" v="34" actId="113"/>
          <ac:spMkLst>
            <pc:docMk/>
            <pc:sldMk cId="0" sldId="273"/>
            <ac:spMk id="13" creationId="{00000000-0000-0000-0000-000000000000}"/>
          </ac:spMkLst>
        </pc:spChg>
        <pc:spChg chg="mod">
          <ac:chgData name="Edinson Angulo Montalvan" userId="a39e2542-2571-4f6c-aba9-d1266b5849a0" providerId="ADAL" clId="{BA9DFEBB-B1AC-42A7-9C21-B4FBF12639F9}" dt="2026-08-12T15:06:26.090" v="54" actId="20577"/>
          <ac:spMkLst>
            <pc:docMk/>
            <pc:sldMk cId="0" sldId="273"/>
            <ac:spMk id="27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 con Peso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EFC-4599-9C82-456946D7E361}"/>
              </c:ext>
            </c:extLst>
          </c:dPt>
          <c:dPt>
            <c:idx val="1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FC-4599-9C82-456946D7E361}"/>
              </c:ext>
            </c:extLst>
          </c:dPt>
          <c:dPt>
            <c:idx val="2"/>
            <c:invertIfNegative val="0"/>
            <c:bubble3D val="0"/>
            <c:spPr>
              <a:solidFill>
                <a:srgbClr val="C940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EFC-4599-9C82-456946D7E361}"/>
              </c:ext>
            </c:extLst>
          </c:dPt>
          <c:dPt>
            <c:idx val="3"/>
            <c:invertIfNegative val="0"/>
            <c:bubble3D val="0"/>
            <c:spPr>
              <a:solidFill>
                <a:srgbClr val="C940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EFC-4599-9C82-456946D7E361}"/>
              </c:ext>
            </c:extLst>
          </c:dPt>
          <c:dPt>
            <c:idx val="4"/>
            <c:invertIfNegative val="0"/>
            <c:bubble3D val="0"/>
            <c:spPr>
              <a:solidFill>
                <a:srgbClr val="C940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EFC-4599-9C82-456946D7E361}"/>
              </c:ext>
            </c:extLst>
          </c:dPt>
          <c:dPt>
            <c:idx val="5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EFC-4599-9C82-456946D7E36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A2A2A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GDD</c:v>
                </c:pt>
                <c:pt idx="1">
                  <c:v>Tmax</c:v>
                </c:pt>
                <c:pt idx="2">
                  <c:v>DeltaT</c:v>
                </c:pt>
                <c:pt idx="3">
                  <c:v>Radiación</c:v>
                </c:pt>
                <c:pt idx="4">
                  <c:v>ETO</c:v>
                </c:pt>
                <c:pt idx="5">
                  <c:v>Tmin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0.89100000000000001</c:v>
                </c:pt>
                <c:pt idx="1">
                  <c:v>0.88900000000000001</c:v>
                </c:pt>
                <c:pt idx="2">
                  <c:v>-0.88300000000000001</c:v>
                </c:pt>
                <c:pt idx="3">
                  <c:v>-0.877</c:v>
                </c:pt>
                <c:pt idx="4">
                  <c:v>-0.85899999999999999</c:v>
                </c:pt>
                <c:pt idx="5">
                  <c:v>0.877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EFC-4599-9C82-456946D7E3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2A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1"/>
        </c:scaling>
        <c:delete val="0"/>
        <c:axPos val="b"/>
        <c:majorGridlines>
          <c:spPr>
            <a:ln w="6350" cap="flat">
              <a:solidFill>
                <a:srgbClr val="E8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 con Frutos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497-48C4-9E1F-8C5FCD95EA2C}"/>
              </c:ext>
            </c:extLst>
          </c:dPt>
          <c:dPt>
            <c:idx val="1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497-48C4-9E1F-8C5FCD95EA2C}"/>
              </c:ext>
            </c:extLst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497-48C4-9E1F-8C5FCD95EA2C}"/>
              </c:ext>
            </c:extLst>
          </c:dPt>
          <c:dPt>
            <c:idx val="3"/>
            <c:invertIfNegative val="0"/>
            <c:bubble3D val="0"/>
            <c:spPr>
              <a:solidFill>
                <a:srgbClr val="E8A8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497-48C4-9E1F-8C5FCD95EA2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A2A2A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K2O (potasio)</c:v>
                </c:pt>
                <c:pt idx="1">
                  <c:v>P2O5 (fósforo)</c:v>
                </c:pt>
                <c:pt idx="2">
                  <c:v>NO3 (nitrógeno)</c:v>
                </c:pt>
                <c:pt idx="3">
                  <c:v>Agua de riego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0.57899999999999996</c:v>
                </c:pt>
                <c:pt idx="1">
                  <c:v>0.54400000000000004</c:v>
                </c:pt>
                <c:pt idx="2">
                  <c:v>0.40100000000000002</c:v>
                </c:pt>
                <c:pt idx="3">
                  <c:v>0.377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497-48C4-9E1F-8C5FCD95EA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b"/>
        <c:majorGridlines>
          <c:spPr>
            <a:ln w="6350" cap="flat">
              <a:solidFill>
                <a:srgbClr val="E8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GDD mediana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A8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96C-4E5F-9FDF-9747685D0B70}"/>
              </c:ext>
            </c:extLst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96C-4E5F-9FDF-9747685D0B70}"/>
              </c:ext>
            </c:extLst>
          </c:dPt>
          <c:dPt>
            <c:idx val="2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96C-4E5F-9FDF-9747685D0B70}"/>
              </c:ext>
            </c:extLst>
          </c:dPt>
          <c:dPt>
            <c:idx val="3"/>
            <c:invertIfNegative val="0"/>
            <c:bubble3D val="0"/>
            <c:spPr>
              <a:solidFill>
                <a:srgbClr val="2C5F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96C-4E5F-9FDF-9747685D0B7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A2A2A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Floración</c:v>
                </c:pt>
                <c:pt idx="1">
                  <c:v>Cosecha F1</c:v>
                </c:pt>
                <c:pt idx="2">
                  <c:v>Cosecha F2</c:v>
                </c:pt>
                <c:pt idx="3">
                  <c:v>Cosecha F3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3864</c:v>
                </c:pt>
                <c:pt idx="1">
                  <c:v>2996</c:v>
                </c:pt>
                <c:pt idx="2">
                  <c:v>3196</c:v>
                </c:pt>
                <c:pt idx="3">
                  <c:v>3556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96C-4E5F-9FDF-9747685D0B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C30-4BFB-8772-FCD64411B314}"/>
              </c:ext>
            </c:extLst>
          </c:dPt>
          <c:dPt>
            <c:idx val="1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C30-4BFB-8772-FCD64411B314}"/>
              </c:ext>
            </c:extLst>
          </c:dPt>
          <c:dPt>
            <c:idx val="2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C30-4BFB-8772-FCD64411B314}"/>
              </c:ext>
            </c:extLst>
          </c:dPt>
          <c:dPt>
            <c:idx val="3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C30-4BFB-8772-FCD64411B314}"/>
              </c:ext>
            </c:extLst>
          </c:dPt>
          <c:dPt>
            <c:idx val="4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C30-4BFB-8772-FCD64411B314}"/>
              </c:ext>
            </c:extLst>
          </c:dPt>
          <c:dPt>
            <c:idx val="5"/>
            <c:invertIfNegative val="0"/>
            <c:bubble3D val="0"/>
            <c:spPr>
              <a:solidFill>
                <a:srgbClr val="E8A8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C30-4BFB-8772-FCD64411B314}"/>
              </c:ext>
            </c:extLst>
          </c:dPt>
          <c:dPt>
            <c:idx val="6"/>
            <c:invertIfNegative val="0"/>
            <c:bubble3D val="0"/>
            <c:spPr>
              <a:solidFill>
                <a:srgbClr val="B0B0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C30-4BFB-8772-FCD64411B314}"/>
              </c:ext>
            </c:extLst>
          </c:dPt>
          <c:dPt>
            <c:idx val="7"/>
            <c:invertIfNegative val="0"/>
            <c:bubble3D val="0"/>
            <c:spPr>
              <a:solidFill>
                <a:srgbClr val="B0B0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C30-4BFB-8772-FCD64411B31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A2A2A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Tmax</c:v>
                </c:pt>
                <c:pt idx="1">
                  <c:v>K2O/sem</c:v>
                </c:pt>
                <c:pt idx="2">
                  <c:v>Balance</c:v>
                </c:pt>
                <c:pt idx="3">
                  <c:v>Agua/sem</c:v>
                </c:pt>
                <c:pt idx="4">
                  <c:v>NO3/sem</c:v>
                </c:pt>
                <c:pt idx="5">
                  <c:v>Días poda</c:v>
                </c:pt>
                <c:pt idx="6">
                  <c:v>GDD flor</c:v>
                </c:pt>
                <c:pt idx="7">
                  <c:v>GDD/sem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-0.96899999999999997</c:v>
                </c:pt>
                <c:pt idx="1">
                  <c:v>0.85899999999999999</c:v>
                </c:pt>
                <c:pt idx="2">
                  <c:v>0.82399999999999995</c:v>
                </c:pt>
                <c:pt idx="3">
                  <c:v>0.82099999999999995</c:v>
                </c:pt>
                <c:pt idx="4">
                  <c:v>0.77</c:v>
                </c:pt>
                <c:pt idx="5">
                  <c:v>-0.40300000000000002</c:v>
                </c:pt>
                <c:pt idx="6">
                  <c:v>0.29199999999999998</c:v>
                </c:pt>
                <c:pt idx="7">
                  <c:v>4.0000000000000001E-3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C30-4BFB-8772-FCD64411B3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A2A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-1.1000000000000001"/>
        </c:scaling>
        <c:delete val="1"/>
        <c:axPos val="l"/>
        <c:majorGridlines>
          <c:spPr>
            <a:ln w="6350" cap="flat">
              <a:solidFill>
                <a:srgbClr val="E8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122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2C5F2D">
              <a:alpha val="3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rgbClr val="97BC62">
              <a:alpha val="2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poblacional de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producción: Sekoya Pop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multi-agente  |  AQUANQA  |  Campañas C2024 – C2025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Arándano (Vaccinium corymbosum)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pregunta central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factores determinan cuánta fruta produce cada módulo,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tan pesada es, y cuándo exactamente llega la cosecha?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3291840" cy="2560320"/>
          </a:xfrm>
          <a:prstGeom prst="roundRect">
            <a:avLst>
              <a:gd name="adj" fmla="val 5357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1920240" y="283464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1920240" y="2880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¿Cuánta fruta?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por planta y rendimiento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módulo y campaña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560320"/>
            <a:ext cx="3291840" cy="2560320"/>
          </a:xfrm>
          <a:prstGeom prst="roundRect">
            <a:avLst>
              <a:gd name="adj" fmla="val 5357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5577840" y="2834640"/>
            <a:ext cx="731520" cy="73152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5577840" y="2880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tan pesada?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4206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del fruto determina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y precio de exportación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2560320"/>
            <a:ext cx="3291840" cy="2560320"/>
          </a:xfrm>
          <a:prstGeom prst="roundRect">
            <a:avLst>
              <a:gd name="adj" fmla="val 5357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9235440" y="2834640"/>
            <a:ext cx="731520" cy="731520"/>
          </a:xfrm>
          <a:prstGeom prst="ellipse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9235440" y="2880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¿Cuándo llega?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0" y="4206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pico de cosecha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planificar logística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fuentes de datos cruzadas: cosecha real (948 reg.), flores (5,447), clima diario (938), riego y nutrientes (7,240)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multi-agente: 4 expertos, 2 iteraciones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325880" y="1417320"/>
            <a:ext cx="822960" cy="822960"/>
          </a:xfrm>
          <a:prstGeom prst="ellipse">
            <a:avLst/>
          </a:prstGeom>
          <a:solidFill>
            <a:srgbClr val="2A78D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1325880" y="14630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DataCleaner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 huecos, suaviza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curvas, detecta anomalías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71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4206240" y="141732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4206240" y="14630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BioStat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Correlaciones, lags,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cohortes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7086600" y="1417320"/>
            <a:ext cx="822960" cy="82296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7086600" y="14630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5508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AgroSekoya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biológico: descarta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falsas, confirma reales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32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098280" y="118872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9966960" y="1417320"/>
            <a:ext cx="822960" cy="822960"/>
          </a:xfrm>
          <a:prstGeom prst="ellipse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9966960" y="14630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23544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hallazgos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Excel de 10 hojas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3931920"/>
            <a:ext cx="5303520" cy="502920"/>
          </a:xfrm>
          <a:prstGeom prst="roundRect">
            <a:avLst>
              <a:gd name="adj" fmla="val 18182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3474720" y="3931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Iteración: BioStat propone  →  AgroSekoya valida  →  se corrige  →  se repite hasta consenso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846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 1: 86% validado (19/22 relaciones)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5212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 2: 75% validado (18/24 interacciones) + 5 espurias descartadas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5669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Confianza final: 85-90%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1B3A2D">
              <a:alpha val="4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Iteración 1: los fundamentos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Rendimiento, flujos de cosecha y efectos retardados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flor al fruto: el ciclo de producción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0" y="2194560"/>
            <a:ext cx="9509760" cy="54864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77240" cy="777240"/>
          </a:xfrm>
          <a:prstGeom prst="ellipse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182880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3017520" y="18745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0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Floración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3063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~20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0" y="182880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5303520" y="18745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0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Cuajado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063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+2-3 sem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89520" y="182880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7589520" y="18745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15200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Llenado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0" y="3063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+4-6 sem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875520" y="1828800"/>
            <a:ext cx="777240" cy="77724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9875520" y="18745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601200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Cosecha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0" y="3063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+3-4 sem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931920"/>
            <a:ext cx="3474720" cy="1051560"/>
          </a:xfrm>
          <a:prstGeom prst="roundRect">
            <a:avLst>
              <a:gd name="adj" fmla="val 8696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77724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FLOR → COSECHA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semanas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77240" y="4663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días (mediana entre módulos)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89120" y="3931920"/>
            <a:ext cx="3474720" cy="1051560"/>
          </a:xfrm>
          <a:prstGeom prst="roundRect">
            <a:avLst>
              <a:gd name="adj" fmla="val 8696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452628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POR MÓDULO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2628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2-3 flujos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526280" y="4663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Oleadas de cosecha escalonadas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138160" y="3931920"/>
            <a:ext cx="3474720" cy="1051560"/>
          </a:xfrm>
          <a:prstGeom prst="roundRect">
            <a:avLst>
              <a:gd name="adj" fmla="val 8696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4" name="Text 32"/>
          <p:cNvSpPr/>
          <p:nvPr/>
        </p:nvSpPr>
        <p:spPr>
          <a:xfrm>
            <a:off x="827532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MEDIO C2025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7532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3.35 gramos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8275320" y="4663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exportable (2.5-3.5g)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5303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lag de 10 semanas es el corazón del modelo: si vemos un pico de flores hoy, sabemos que habrá un pico de cosecha en 10 semanas.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Iteración 1: ¿qué determina el peso del fruto?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5943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097280"/>
            <a:ext cx="4937760" cy="3931920"/>
          </a:xfrm>
          <a:prstGeom prst="roundRect">
            <a:avLst>
              <a:gd name="adj" fmla="val 3488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704088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momentos críticos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040880" y="1737360"/>
            <a:ext cx="4572000" cy="1554480"/>
          </a:xfrm>
          <a:prstGeom prst="roundRect">
            <a:avLst>
              <a:gd name="adj" fmla="val 5882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7178040" y="1783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meses antes (floración)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78040" y="21031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calor acumulado (GDD, Tmax) genera reservas de energía en la planta. Más calor en floración = más fotosíntesis = frutos más pesados meses después.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040880" y="3474720"/>
            <a:ext cx="4572000" cy="137160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1" name="Text 8"/>
          <p:cNvSpPr/>
          <p:nvPr/>
        </p:nvSpPr>
        <p:spPr>
          <a:xfrm>
            <a:off x="7178040" y="3520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semanas antes (llenado)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178040" y="38404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estrés abiótico (DeltaT, Radiación, ETO) durante el llenado reduce directamente el calibre. Es el momento más vulnerable.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Iteración 1: ¿qué determina la cantidad de frutos?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5943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097280"/>
            <a:ext cx="4937760" cy="3200400"/>
          </a:xfrm>
          <a:prstGeom prst="roundRect">
            <a:avLst>
              <a:gd name="adj" fmla="val 4286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704088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Ventana crítica: 10-12 semanas antes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040880" y="1691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macronutrientes (N, P, K) y el agua tienen su mayor impacto 10-12 semanas antes de la cosecha, coincidiendo con la fase de cuajado.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40880" y="2651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potasio (K2O) es el más influyente: facilita el transporte de azúcares hacia los frutos en formación, mejorando la retención (cuajado).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040880" y="3520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Implicación: concentrar la fertilización NPK en las semanas 8-12 pre-cosecha, no distribuirla uniformemente.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4754880"/>
            <a:ext cx="10972800" cy="109728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822960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encontrada: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5212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 → Peso mostró correlación NEGATIVA (R = -0.62). ¿Más riego = frutos más chicos? Esto no tiene sentido biológico. Necesitamos investigar más...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1B3A2D">
              <a:alpha val="4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Iteración 2: descubrimientos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interacción, paradojas resueltas y reloj térmico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Descubrimiento: la paradoja del agua resuelta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FDECE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Agua bruta → Peso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-0.62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negativa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Parece que más riego = frutos más livianos.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agua perjudica al arándano?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confusión: en verano se riega mucho Y hace calor.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confundía 'verano' con 'mucho riego'.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6400800" y="118872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58368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Riego / ETO → Peso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21945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+0.73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583680" y="2834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positiva — lag 13 semanas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3291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dividir el riego por la evaporación (ETO),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eliminamos el efecto estacional.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4114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riego relativo a la demanda = frutos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pesados. Variable maestra para predicción.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Implicación: medir Riego/ETO como indicador, no volumen bruto. Si Riego/ETO &gt; 1.0, el campo está bien abastecido.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variables de interacción que predicen el peso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FDECE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Estrés combinado (DeltaT × ETO)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9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-0.87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56616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7 semanas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predictor negativo de peso. Cuando hay gran amplitud térmica (noches frías + días calientes) Y el ambiente está muy seco, la planta sufre el máximo estrés durante el llenado del fruto.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sistema de alerta cuando DeltaT &gt; 12°C y ETO &gt; 5 mm/día. Activar riego de enfriamiento 7 semanas antes de cosecha.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6400800" y="1234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Fotosíntesis (GDD × Radiación)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+0.86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914400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17 semanas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560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combinación de calor y luz durante la floración determina cuánta fotosíntesis hace la planta. Más fotosíntesis = más reservas de carbono = frutos más pesados 4-5 meses después.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840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planificar la poda para que la floración coincida con semanas de alta radiación y temperatura.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dos variables capturan los mecanismos opuestos: GDD×Rad construye el potencial, Estrés DxE lo destruye. Juntas explican &gt;75% de la variación del peso.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concentración importa más que la cantidad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72800" cy="2103120"/>
          </a:xfrm>
          <a:prstGeom prst="roundRect">
            <a:avLst>
              <a:gd name="adj" fmla="val 6522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K2O por m³ de agua → Frutos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+0.51  |  lag 10 semanas  |  100% módulos significativos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basta con aplicar mucho potasio total. Lo que importa es la concentración de K en la solución que llega a las raíces. Si se diluye mucho fertilizante en mucha agua, las raíces absorben una solución 'débil'. Si se concentra en menos agua, reciben una dosis más efectiva.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5303520" cy="2011680"/>
          </a:xfrm>
          <a:prstGeom prst="roundRect">
            <a:avLst>
              <a:gd name="adj" fmla="val 6818"/>
            </a:avLst>
          </a:prstGeom>
          <a:solidFill>
            <a:srgbClr val="FDECE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Enfoque antiguo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en Kg totales de K2O aplicados.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considera cuánta agua acompaña.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resultar en soluciones diluidas e inefectivas.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3566160"/>
            <a:ext cx="5303520" cy="2011680"/>
          </a:xfrm>
          <a:prstGeom prst="roundRect">
            <a:avLst>
              <a:gd name="adj" fmla="val 6818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6400800" y="3703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Enfoque recomendado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41148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en mg/L (concentración en solución).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el ratio K2O / volumen de agua.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que cada riego lleve una dosis efectiva.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Maduración (GDD): la planta no entiende de calendarios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097280"/>
            <a:ext cx="5303520" cy="3657600"/>
          </a:xfrm>
          <a:prstGeom prst="roundRect">
            <a:avLst>
              <a:gd name="adj" fmla="val 3750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6583680" y="1234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tan confiables son?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675120" y="1828800"/>
            <a:ext cx="365760" cy="36576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7178040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3  (CV = 12%)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78040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predictor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75120" y="2606040"/>
            <a:ext cx="365760" cy="36576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7178040" y="2560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2  (CV = 34%)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17804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como referencia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675120" y="3383280"/>
            <a:ext cx="365760" cy="365760"/>
          </a:xfrm>
          <a:prstGeom prst="ellipse">
            <a:avLst/>
          </a:prstGeom>
          <a:solidFill>
            <a:srgbClr val="C940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/>
          <p:nvPr/>
        </p:nvSpPr>
        <p:spPr>
          <a:xfrm>
            <a:off x="7178040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1  (CV = 50%)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7804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— otros factores influyen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75120" y="4160520"/>
            <a:ext cx="365760" cy="365760"/>
          </a:xfrm>
          <a:prstGeom prst="ellipse">
            <a:avLst/>
          </a:prstGeom>
          <a:solidFill>
            <a:srgbClr val="6B7B6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717804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Floración  (CV = 42%)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17804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 fechas de poda distintas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3 es el más predecible: si un módulo ha acumulado ~3,556 GDD desde la poda, está cerca de su tercer pico de cosecha con alta confianza.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adelanta o atrasa la cosecha?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5029200" cy="3200400"/>
          </a:xfrm>
          <a:prstGeom prst="roundRect">
            <a:avLst>
              <a:gd name="adj" fmla="val 4286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principal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Tmax media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-0.97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 — altamente significativo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+1°C en temperatura máxima media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adelanta la cosecha ~2 semanas.</a:t>
            </a:r>
            <a:endParaRPr lang="en-US" sz="14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5943600" y="1097280"/>
          <a:ext cx="57607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640080" y="4663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más cálidos cosechan antes porque la planta acumula GDD más rápido. Un módulo con Tmax de 28°C cosechará ~6 semanas antes que uno con 25°C.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K2O, Agua y NO3 por semana muestran correlación positiva: los módulos tardíos reciben más insumos porque su ciclo es más largo, no porque más insumos atrasen la cosecha.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1B3A2D">
              <a:alpha val="4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modelos propuestos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ecuaciones para predecir peso, cantidad y timing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modelos predictivos para la producción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72800" cy="1554480"/>
          </a:xfrm>
          <a:prstGeom prst="roundRect">
            <a:avLst>
              <a:gd name="adj" fmla="val 7059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822960" cy="822960"/>
          </a:xfrm>
          <a:prstGeom prst="ellipse">
            <a:avLst/>
          </a:prstGeom>
          <a:solidFill>
            <a:srgbClr val="2A78D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92024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peso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= f(Riego/ETO, Estrés DxE, GDD×Rad)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1783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Riego/ETO [-13 sem]  |  Estrés [-7 sem]  |  GDD×Rad [-17 sem]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12344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variables cubren los mecanismos: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hídrico, estrés y fotosíntesis.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2057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&gt; 0.75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10972800" cy="1554480"/>
          </a:xfrm>
          <a:prstGeom prst="roundRect">
            <a:avLst>
              <a:gd name="adj" fmla="val 7059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822960" y="3246120"/>
            <a:ext cx="822960" cy="82296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32918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920240" y="2999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frutos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20240" y="3310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Frutos = f(K2O/m³, Confort, NO3/m³)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20240" y="3611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K2O/m³ [-10 sem]  |  Confort [-14 sem]  |  NO3/m³ [-8 sem]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3063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de nutrientes y temperatura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óptima en floración predicen cuajado.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~ 0.50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4754880"/>
            <a:ext cx="10972800" cy="1554480"/>
          </a:xfrm>
          <a:prstGeom prst="roundRect">
            <a:avLst>
              <a:gd name="adj" fmla="val 7059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822960" y="5074920"/>
            <a:ext cx="822960" cy="82296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822960" y="51206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920240" y="4828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maduración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920240" y="5138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Sem_Pico = f(Tmax, Poda, GDD)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920240" y="5440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Tmax media  |  Fecha de poda  |  GDD por flujo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4892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Tmax media como predictor dominante.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GDD para calibrar flujos 2 y 3.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5715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&gt; 0.90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acciones para optimizar la producción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72800" cy="868680"/>
          </a:xfrm>
          <a:prstGeom prst="roundRect">
            <a:avLst>
              <a:gd name="adj" fmla="val 10526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822960" y="1280160"/>
            <a:ext cx="502920" cy="502920"/>
          </a:xfrm>
          <a:prstGeom prst="ellipse">
            <a:avLst/>
          </a:prstGeom>
          <a:solidFill>
            <a:srgbClr val="2A78D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22960" y="12984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Riego: medir el ratio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5361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Riego/ETO como indicador. Si &gt; 1.0, bien abastecido. Monitorear 11-13 sem antes de cosecha.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10972800" cy="868680"/>
          </a:xfrm>
          <a:prstGeom prst="roundRect">
            <a:avLst>
              <a:gd name="adj" fmla="val 10526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822960" y="2304288"/>
            <a:ext cx="502920" cy="502920"/>
          </a:xfrm>
          <a:prstGeom prst="ellipse">
            <a:avLst/>
          </a:prstGeom>
          <a:solidFill>
            <a:srgbClr val="C940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232257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212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Estrés: alerta temprana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25603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si DeltaT &gt; 12°C y ETO &gt; 5 mm/día. </a:t>
            </a:r>
            <a:r>
              <a:rPr lang="en-US" sz="1200" b="1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Riego de enfriamiento </a:t>
            </a: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sem antes de cosecha.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10972800" cy="868680"/>
          </a:xfrm>
          <a:prstGeom prst="roundRect">
            <a:avLst>
              <a:gd name="adj" fmla="val 10526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822960" y="3328416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822960" y="33467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2369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Nutrición: concentración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5844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Fertilizar por mg/L, no Kg totales. Concentrar NPK en semanas 8-12 pre-cosecha (cuajado).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169664"/>
            <a:ext cx="10972800" cy="868680"/>
          </a:xfrm>
          <a:prstGeom prst="roundRect">
            <a:avLst>
              <a:gd name="adj" fmla="val 10526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822960" y="4352544"/>
            <a:ext cx="502920" cy="50292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822960" y="43708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42611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Poda: maximizar fotosíntesis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4608576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 floración coincida con alta radiación y temperatura. Esto fija el potencial de peso.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193792"/>
            <a:ext cx="10972800" cy="868680"/>
          </a:xfrm>
          <a:prstGeom prst="roundRect">
            <a:avLst>
              <a:gd name="adj" fmla="val 10526"/>
            </a:avLst>
          </a:prstGeom>
          <a:solidFill>
            <a:srgbClr val="F4F7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822960" y="5376672"/>
            <a:ext cx="502920" cy="50292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822960" y="5394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08760" y="5285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Maduración: usar temperatura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563270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Tmax media predice la semana de cosecha. Cada +1°C = 2 semanas antes. Planificar logística.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acciones están respaldadas por correlaciones de R &gt; 0.70, validadas biológicamente por el agente AgroSekoya en 2 iteraciones.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2C5F2D">
              <a:alpha val="3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rgbClr val="97BC62">
              <a:alpha val="2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ejecutivo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9144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en-US" sz="1600" b="1" dirty="0">
                <a:solidFill>
                  <a:srgbClr val="97BC62"/>
                </a:solidFill>
              </a:rPr>
              <a:t>4 descubrimientos clave:
</a:t>
            </a:r>
            <a:r>
              <a:rPr lang="en-US" sz="1400" dirty="0">
                <a:solidFill>
                  <a:srgbClr val="FFFFFF"/>
                </a:solidFill>
              </a:rPr>
              <a:t>1. Riego/ETO resuelve la paradoja del agua (R = -0.62 → +0.73)
2. Estrés DxE es el mejor predictor negativo de peso (R = -0.87)
3. GDD×Rad predice el potencial de peso 4 meses antes (R = +0.86)
4. Tmax media predice cuándo llega la cosecha (R = -0.97)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486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multi-agente  |  2 iteraciones  |  85-90% confianza  |  AQUANQA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1608</Words>
  <Application>Microsoft Office PowerPoint</Application>
  <PresentationFormat>Panorámica</PresentationFormat>
  <Paragraphs>214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Edinson Angulo Montalvan</cp:lastModifiedBy>
  <cp:revision>1</cp:revision>
  <dcterms:created xsi:type="dcterms:W3CDTF">2026-08-12T04:36:17Z</dcterms:created>
  <dcterms:modified xsi:type="dcterms:W3CDTF">2026-08-12T16:55:55Z</dcterms:modified>
</cp:coreProperties>
</file>